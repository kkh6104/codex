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가안입니다. 최신 08_schema_minimal_oracle.sql과 09_seed_minimal_oracle.sql을 기준으로 작성했습니다. 이전 기획 PDF는 배경 참고입니다. 화면 흐름과 시뮬레이션 화면은 제안이며 구현 완료나 모델 검증을 의미하지 않습니다. 7번의 stress_result는 8번에 없습니다. 대안모델 입력 및 계산 로직은 8번에 정의되어 있지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가안입니다. 최신 08_schema_minimal_oracle.sql과 09_seed_minimal_oracle.sql을 기준으로 작성했습니다. 이전 기획 PDF는 배경 참고입니다. 화면 흐름과 시뮬레이션 화면은 제안이며 구현 완료나 모델 검증을 의미하지 않습니다. 7번의 stress_result는 8번에 없습니다. 대안모델 입력 및 계산 로직은 8번에 정의되어 있지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가안입니다. 최신 08_schema_minimal_oracle.sql과 09_seed_minimal_oracle.sql을 기준으로 작성했습니다. 이전 기획 PDF는 배경 참고입니다. 화면 흐름과 시뮬레이션 화면은 제안이며 구현 완료나 모델 검증을 의미하지 않습니다. 7번의 stress_result는 8번에 없습니다. 대안모델 입력 및 계산 로직은 8번에 정의되어 있지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가안입니다. 최신 08_schema_minimal_oracle.sql과 09_seed_minimal_oracle.sql을 기준으로 작성했습니다. 이전 기획 PDF는 배경 참고입니다. 화면 흐름과 시뮬레이션 화면은 제안이며 구현 완료나 모델 검증을 의미하지 않습니다. 7번의 stress_result는 8번에 없습니다. 대안모델 입력 및 계산 로직은 8번에 정의되어 있지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가안입니다. 최신 08_schema_minimal_oracle.sql과 09_seed_minimal_oracle.sql을 기준으로 작성했습니다. 이전 기획 PDF는 배경 참고입니다. 화면 흐름과 시뮬레이션 화면은 제안이며 구현 완료나 모델 검증을 의미하지 않습니다. 7번의 stress_result는 8번에 없습니다. 대안모델 입력 및 계산 로직은 8번에 정의되어 있지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가안입니다. 최신 08_schema_minimal_oracle.sql과 09_seed_minimal_oracle.sql을 기준으로 작성했습니다. 이전 기획 PDF는 배경 참고입니다. 화면 흐름과 시뮬레이션 화면은 제안이며 구현 완료나 모델 검증을 의미하지 않습니다. 7번의 stress_result는 8번에 없습니다. 대안모델 입력 및 계산 로직은 8번에 정의되어 있지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가안입니다. 최신 08_schema_minimal_oracle.sql과 09_seed_minimal_oracle.sql을 기준으로 작성했습니다. 이전 기획 PDF는 배경 참고입니다. 화면 흐름과 시뮬레이션 화면은 제안이며 구현 완료나 모델 검증을 의미하지 않습니다. 7번의 stress_result는 8번에 없습니다. 대안모델 입력 및 계산 로직은 8번에 정의되어 있지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가안입니다. 최신 08_schema_minimal_oracle.sql과 09_seed_minimal_oracle.sql을 기준으로 작성했습니다. 이전 기획 PDF는 배경 참고입니다. 화면 흐름과 시뮬레이션 화면은 제안이며 구현 완료나 모델 검증을 의미하지 않습니다. 7번의 stress_result는 8번에 없습니다. 대안모델 입력 및 계산 로직은 8번에 정의되어 있지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가안입니다. 최신 08_schema_minimal_oracle.sql과 09_seed_minimal_oracle.sql을 기준으로 작성했습니다. 이전 기획 PDF는 배경 참고입니다. 화면 흐름과 시뮬레이션 화면은 제안이며 구현 완료나 모델 검증을 의미하지 않습니다. 7번의 stress_result는 8번에 없습니다. 대안모델 입력 및 계산 로직은 8번에 정의되어 있지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가안입니다. 최신 08_schema_minimal_oracle.sql과 09_seed_minimal_oracle.sql을 기준으로 작성했습니다. 이전 기획 PDF는 배경 참고입니다. 화면 흐름과 시뮬레이션 화면은 제안이며 구현 완료나 모델 검증을 의미하지 않습니다. 7번의 stress_result는 8번에 없습니다. 대안모델 입력 및 계산 로직은 8번에 정의되어 있지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F80"/>
                </a:solidFill>
                <a:latin typeface="Noto Sans CJK KR"/>
              </a:defRPr>
            </a:pPr>
            <a:r>
              <a:t>TEAM PROJECT / CONCEPT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273B"/>
                </a:solidFill>
                <a:latin typeface="Noto Sans CJK KR"/>
              </a:defRPr>
            </a:pPr>
            <a:r>
              <a:t>내 소득과 대출을, 상황 변화까지 함께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08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연령·직군별 금융 비교와 상환부담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4657B"/>
                </a:solidFill>
                <a:latin typeface="Noto Sans CJK KR"/>
              </a:defRPr>
            </a:pPr>
            <a:r>
              <a:t>신용평가 서비스  |  발표 가안 · 08 구현 SQL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4657B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11064240" cy="3246120"/>
          </a:xfrm>
          <a:prstGeom prst="rect">
            <a:avLst/>
          </a:prstGeom>
          <a:solidFill>
            <a:srgbClr val="11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102412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Noto Sans CJK KR"/>
              </a:defRPr>
            </a:pPr>
            <a:r>
              <a:t>신용평가 서비스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Noto Sans CJK KR"/>
              </a:defRPr>
            </a:pPr>
            <a:r>
              <a:t>발표용 구성 가안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43484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7FE1D1"/>
                </a:solidFill>
                <a:latin typeface="Noto Sans CJK KR"/>
              </a:defRPr>
            </a:pPr>
            <a:r>
              <a:t>현재 상태 → 비교 기준 → 충격 시나리오 → 평가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4657B"/>
                </a:solidFill>
                <a:latin typeface="Noto Sans CJK KR"/>
              </a:defRPr>
            </a:pPr>
            <a:r>
              <a:t>최신 설계: 08_schema_minimal_oracle.sql · 기준 코드: 09_seed_minimal_oracle.sql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F80"/>
                </a:solidFill>
                <a:latin typeface="Noto Sans CJK KR"/>
              </a:defRPr>
            </a:pPr>
            <a:r>
              <a:t>01 /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273B"/>
                </a:solidFill>
                <a:latin typeface="Noto Sans CJK KR"/>
              </a:defRPr>
            </a:pPr>
            <a:r>
              <a:t>점수와 함께, 상환 여력의 변화를 설명합니다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08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핵심 질문은 “내 상황은 어떤가?”와 “조건이 바뀌면 어떻게 되는가?”입니다.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4657B"/>
                </a:solidFill>
                <a:latin typeface="Noto Sans CJK KR"/>
              </a:defRPr>
            </a:pPr>
            <a:r>
              <a:t>신용평가 서비스  |  발표 가안 · 08 구현 SQL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4657B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56616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542032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35808"/>
            <a:ext cx="31455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현재 상태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749039"/>
            <a:ext cx="314553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월별 소득의 변동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대출 상환부담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자산과 부채의 관계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377440"/>
            <a:ext cx="356616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542032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35808"/>
            <a:ext cx="31455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비교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749039"/>
            <a:ext cx="314553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연령대·직군별 통계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산업별 소득 비교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대출 유형별 평균 금리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377440"/>
            <a:ext cx="356616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542032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035808"/>
            <a:ext cx="31455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조건 변화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749039"/>
            <a:ext cx="314553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소득 감소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금리 상승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변화 전후 부담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4657B"/>
                </a:solidFill>
                <a:latin typeface="Noto Sans CJK KR"/>
              </a:defRPr>
            </a:pPr>
            <a:r>
              <a:t>발표 메시지 제안입니다. 실제 평가 산식과 모델은 별도 확정이 필요합니다.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F80"/>
                </a:solidFill>
                <a:latin typeface="Noto Sans CJK KR"/>
              </a:defRPr>
            </a:pPr>
            <a:r>
              <a:t>02 /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273B"/>
                </a:solidFill>
                <a:latin typeface="Noto Sans CJK KR"/>
              </a:defRPr>
            </a:pPr>
            <a:r>
              <a:t>한 번의 입력에서, 비교와 시뮬레이션까지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08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제안하는 MVP 이용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4657B"/>
                </a:solidFill>
                <a:latin typeface="Noto Sans CJK KR"/>
              </a:defRPr>
            </a:pPr>
            <a:r>
              <a:t>신용평가 서비스  |  발표 가안 · 08 구현 SQL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4657B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260604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33472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27248"/>
            <a:ext cx="21854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정보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840480"/>
            <a:ext cx="218541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직군·나이·업종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월별 소득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대출·자산·생활비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468880"/>
            <a:ext cx="260604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633472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127248"/>
            <a:ext cx="21854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현재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3840480"/>
            <a:ext cx="218541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소득 변동성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상환부담률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부채 / 자산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468880"/>
            <a:ext cx="260604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633472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127248"/>
            <a:ext cx="21854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기준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840480"/>
            <a:ext cx="218541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공공 통계와 비교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평균 금리 확인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비교 기준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2468880"/>
            <a:ext cx="260604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2633472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3127248"/>
            <a:ext cx="21854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충격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3840480"/>
            <a:ext cx="218541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소득·금리 변경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부담 변화 확인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결과 설명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4657B"/>
                </a:solidFill>
                <a:latin typeface="Noto Sans CJK KR"/>
              </a:defRPr>
            </a:pPr>
            <a:r>
              <a:t>이용 흐름은 화면 구성 제안이며, 구현 완료를 의미하지 않습니다.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F80"/>
                </a:solidFill>
                <a:latin typeface="Noto Sans CJK KR"/>
              </a:defRPr>
            </a:pPr>
            <a:r>
              <a:t>03 /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273B"/>
                </a:solidFill>
                <a:latin typeface="Noto Sans CJK KR"/>
              </a:defRPr>
            </a:pPr>
            <a:r>
              <a:t>구현 기준은 Oracle 19c, 총 19개 테이블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08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복잡한 컬럼 대신 역할별 다섯 묶음으로 설명합니다.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4657B"/>
                </a:solidFill>
                <a:latin typeface="Noto Sans CJK KR"/>
              </a:defRPr>
            </a:pPr>
            <a:r>
              <a:t>신용평가 서비스  |  발표 가안 · 08 구현 SQL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4657B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F80"/>
                </a:solidFill>
                <a:latin typeface="Noto Sans CJK KR"/>
              </a:defRPr>
            </a:pPr>
            <a:r>
              <a:t>코드표  8개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연령 · 산업 · 통계 구분 · 직군 · 대출 · 지역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42316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5603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F80"/>
                </a:solidFill>
                <a:latin typeface="Noto Sans CJK KR"/>
              </a:defRPr>
            </a:pPr>
            <a:r>
              <a:t>사용자 입력  4개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사용자 · 월별 소득 · 대출 · 자산 현황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42316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25603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F80"/>
                </a:solidFill>
                <a:latin typeface="Noto Sans CJK KR"/>
              </a:defRPr>
            </a:pPr>
            <a:r>
              <a:t>공공 통계  4개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310896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가계통계 · 산업별 소득 · 기준금리 · 대출금리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77639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F80"/>
                </a:solidFill>
                <a:latin typeface="Noto Sans CJK KR"/>
              </a:defRPr>
            </a:pPr>
            <a:r>
              <a:t>상권  2개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시점별 업소 수 · 구간별 개폐업 추정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977639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F80"/>
                </a:solidFill>
                <a:latin typeface="Noto Sans CJK KR"/>
              </a:defRPr>
            </a:pPr>
            <a:r>
              <a:t>평가 결과  1개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사용자별 평가 기준월 · 모델명 · 확률 · 점수 · 등급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4657B"/>
                </a:solidFill>
                <a:latin typeface="Noto Sans CJK KR"/>
              </a:defRPr>
            </a:pPr>
            <a:r>
              <a:t>7번 SQL은 발표용 요약 구조입니다. 8번과 함께 실행하는 추가 스키마가 아닙니다.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F80"/>
                </a:solidFill>
                <a:latin typeface="Noto Sans CJK KR"/>
              </a:defRPr>
            </a:pPr>
            <a:r>
              <a:t>04 / INPUT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273B"/>
                </a:solidFill>
                <a:latin typeface="Noto Sans CJK KR"/>
              </a:defRPr>
            </a:pPr>
            <a:r>
              <a:t>사용자 한 명에 소득·대출·자산이 연결됩니다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08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8번 SQL의 사용자 입력 테이블 4개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4657B"/>
                </a:solidFill>
                <a:latin typeface="Noto Sans CJK KR"/>
              </a:defRPr>
            </a:pPr>
            <a:r>
              <a:t>신용평가 서비스  |  발표 가안 · 08 구현 SQL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4657B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2834640" cy="3108960"/>
          </a:xfrm>
          <a:prstGeom prst="rect">
            <a:avLst/>
          </a:prstGeom>
          <a:solidFill>
            <a:srgbClr val="11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Noto Sans CJK KR"/>
              </a:defRPr>
            </a:pPr>
            <a:r>
              <a:t>사용자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23774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Noto Sans CJK KR"/>
              </a:defRPr>
            </a:pPr>
            <a:r>
              <a:t>직군 · 나이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Noto Sans CJK KR"/>
              </a:defRPr>
            </a:pPr>
            <a:r>
              <a:t>지역 · 산업 · 업종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Noto Sans CJK KR"/>
              </a:defRPr>
            </a:pPr>
            <a:r>
              <a:t>입사·개업월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Noto Sans CJK KR"/>
              </a:defRPr>
            </a:pPr>
            <a:r>
              <a:t>합성 여부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2377440"/>
            <a:ext cx="75438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48716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F80"/>
                </a:solidFill>
                <a:latin typeface="Noto Sans CJK KR"/>
              </a:defRPr>
            </a:pPr>
            <a:r>
              <a:t>월별 소득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273B"/>
                </a:solidFill>
                <a:latin typeface="Noto Sans CJK KR"/>
              </a:defRPr>
            </a:pPr>
            <a:r>
              <a:t>사용자 · 기준월 · 소득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3520440"/>
            <a:ext cx="75438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363016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F80"/>
                </a:solidFill>
                <a:latin typeface="Noto Sans CJK KR"/>
              </a:defRPr>
            </a:pPr>
            <a:r>
              <a:t>대출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033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273B"/>
                </a:solidFill>
                <a:latin typeface="Noto Sans CJK KR"/>
              </a:defRPr>
            </a:pPr>
            <a:r>
              <a:t>종류 · 잔액 · 금리 · 월 상환액 · 잔여 만기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4663440"/>
            <a:ext cx="75438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477316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F80"/>
                </a:solidFill>
                <a:latin typeface="Noto Sans CJK KR"/>
              </a:defRPr>
            </a:pPr>
            <a:r>
              <a:t>자산 현황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8463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273B"/>
                </a:solidFill>
                <a:latin typeface="Noto Sans CJK KR"/>
              </a:defRPr>
            </a:pPr>
            <a:r>
              <a:t>기준월 · 금융자산 · 실물자산 · 월 생활비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4657B"/>
                </a:solidFill>
                <a:latin typeface="Noto Sans CJK KR"/>
              </a:defRPr>
            </a:pPr>
            <a:r>
              <a:t>생활비는 자산 기준시점의 입력값입니다. 월별 생활비 이력 테이블은 없습니다.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F80"/>
                </a:solidFill>
                <a:latin typeface="Noto Sans CJK KR"/>
              </a:defRPr>
            </a:pPr>
            <a:r>
              <a:t>05 /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273B"/>
                </a:solidFill>
                <a:latin typeface="Noto Sans CJK KR"/>
              </a:defRPr>
            </a:pPr>
            <a:r>
              <a:t>공공데이터는 비교의 기준을 제공합니다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08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서로 다른 통계를 하나의 순위로 합치기보다, 기준을 표시해 비교합니다.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4657B"/>
                </a:solidFill>
                <a:latin typeface="Noto Sans CJK KR"/>
              </a:defRPr>
            </a:pPr>
            <a:r>
              <a:t>신용평가 서비스  |  발표 가안 · 08 구현 SQL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4657B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587752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가계 통계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81528"/>
            <a:ext cx="31455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자산·부채·소득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794760"/>
            <a:ext cx="314553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연령 / 종사상지위 등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평균 · 중앙값 · 비율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자료연도와 공표연도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42316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587752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산업별 소득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81528"/>
            <a:ext cx="31455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같은 산업·연령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794760"/>
            <a:ext cx="314553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임금근로자 소득 통계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평균 · 중위 월소득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비교 대상의 범위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42316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587752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금리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081528"/>
            <a:ext cx="31455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내 금리와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794760"/>
            <a:ext cx="314553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월별 기준금리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대출 유형별 은행 금리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신규취급 / 잔액 기준 구분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4657B"/>
                </a:solidFill>
                <a:latin typeface="Noto Sans CJK KR"/>
              </a:defRPr>
            </a:pPr>
            <a:r>
              <a:t>평균·중앙값만으로 개인의 백분위를 산출하지 않습니다. 프리랜서 비교군은 임시 매핑입니다.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F80"/>
                </a:solidFill>
                <a:latin typeface="Noto Sans CJK KR"/>
              </a:defRPr>
            </a:pPr>
            <a:r>
              <a:t>06 / SCREEN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273B"/>
                </a:solidFill>
                <a:latin typeface="Noto Sans CJK KR"/>
              </a:defRPr>
            </a:pPr>
            <a:r>
              <a:t>스트레스 테스트는 전후 차이가 보이도록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08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아래 숫자는 화면 설명용 예시이며 실제 계산 결과가 아닙니다.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4657B"/>
                </a:solidFill>
                <a:latin typeface="Noto Sans CJK KR"/>
              </a:defRPr>
            </a:pPr>
            <a:r>
              <a:t>신용평가 서비스  |  발표 가안 · 08 구현 SQL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4657B"/>
                </a:solidFill>
                <a:latin typeface="Noto Sans CJK KR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23160"/>
            <a:ext cx="3383280" cy="3246120"/>
          </a:xfrm>
          <a:prstGeom prst="rect">
            <a:avLst/>
          </a:prstGeom>
          <a:solidFill>
            <a:srgbClr val="11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시나리오 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Noto Sans CJK KR"/>
              </a:defRPr>
            </a:pPr>
            <a:r>
              <a:t>소득 감소     20%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Noto Sans CJK KR"/>
              </a:defRPr>
            </a:pPr>
            <a:r>
              <a:t>금리 상승     1%p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Noto Sans CJK KR"/>
              </a:defRPr>
            </a:pPr>
            <a:r>
              <a:t>변동금리 대출에 적용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423160"/>
            <a:ext cx="34747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974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8273B"/>
                </a:solidFill>
                <a:latin typeface="Noto Sans CJK KR"/>
              </a:defRPr>
            </a:pPr>
            <a:r>
              <a:t>현재 상환부담률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6576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007F80"/>
                </a:solidFill>
                <a:latin typeface="Noto Sans CJK KR"/>
              </a:defRPr>
            </a:pPr>
            <a: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8920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월 상환액 / 월 소득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423160"/>
            <a:ext cx="34747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6974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8273B"/>
                </a:solidFill>
                <a:latin typeface="Noto Sans CJK KR"/>
              </a:defRPr>
            </a:pPr>
            <a:r>
              <a:t>충격 후 상환부담률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6576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C06435"/>
                </a:solidFill>
                <a:latin typeface="Noto Sans CJK KR"/>
              </a:defRPr>
            </a:pPr>
            <a: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8920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월 상환액 / 월 소득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4657B"/>
                </a:solidFill>
                <a:latin typeface="Noto Sans CJK KR"/>
              </a:defRPr>
            </a:pPr>
            <a:r>
              <a:t>8번에는 스트레스 결과 저장 테이블이 없습니다. 계산 방식과 결과 저장 여부는 별도 결정합니다.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F80"/>
                </a:solidFill>
                <a:latin typeface="Noto Sans CJK KR"/>
              </a:defRPr>
            </a:pPr>
            <a:r>
              <a:t>07 / AREA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273B"/>
                </a:solidFill>
                <a:latin typeface="Noto Sans CJK KR"/>
              </a:defRPr>
            </a:pPr>
            <a:r>
              <a:t>지역·업종 화면은 참고 정보로 구성합니다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08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8번 설계: 행정동 × 업종 × 시점별 업소 수와 개폐업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4657B"/>
                </a:solidFill>
                <a:latin typeface="Noto Sans CJK KR"/>
              </a:defRPr>
            </a:pPr>
            <a:r>
              <a:t>신용평가 서비스  |  발표 가안 · 08 구현 SQL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4657B"/>
                </a:solidFill>
                <a:latin typeface="Noto Sans CJK KR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539496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587752"/>
            <a:ext cx="49743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81528"/>
            <a:ext cx="49743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점포 수와 변화량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794760"/>
            <a:ext cx="497433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시점별 업소 수 저장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두 스냅샷의 유지·소멸·신규 업소 비교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사용 가능 여부와 품질 메모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423160"/>
            <a:ext cx="539496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587752"/>
            <a:ext cx="49743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연결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081528"/>
            <a:ext cx="49743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지역 매핑과 데이터 적재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794760"/>
            <a:ext cx="497433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행정동 코드와 지도 경계 연결 필요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업소 소멸은 확정 폐업과 구분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기존 합성 데이터의 상권 지표는 바로 대입 불가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4657B"/>
                </a:solidFill>
                <a:latin typeface="Noto Sans CJK KR"/>
              </a:defRPr>
            </a:pPr>
            <a:r>
              <a:t>원본 ZIP은 서울 상권 단위이며, 8번은 행정동 단위입니다. 공식 연결 없이 변환하지 않습니다.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F80"/>
                </a:solidFill>
                <a:latin typeface="Noto Sans CJK KR"/>
              </a:defRPr>
            </a:pPr>
            <a:r>
              <a:t>08 / DATA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273B"/>
                </a:solidFill>
                <a:latin typeface="Noto Sans CJK KR"/>
              </a:defRPr>
            </a:pPr>
            <a:r>
              <a:t>조장 설계를 먼저, 합성 데이터는 필요한 곳에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08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데이터에 맞춰 서비스 범위를 늘리지 않고, 기능에 필요한 입력을 보완합니다.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4657B"/>
                </a:solidFill>
                <a:latin typeface="Noto Sans CJK KR"/>
              </a:defRPr>
            </a:pPr>
            <a:r>
              <a:t>신용평가 서비스  |  발표 가안 · 08 구현 SQL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4657B"/>
                </a:solidFill>
                <a:latin typeface="Noto Sans CJK KR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108813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07F80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8775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273B"/>
                </a:solidFill>
                <a:latin typeface="Noto Sans CJK KR"/>
              </a:defRPr>
            </a:pPr>
            <a:r>
              <a:t>기준 고정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606040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4657B"/>
                </a:solidFill>
                <a:latin typeface="Noto Sans CJK KR"/>
              </a:defRPr>
            </a:pPr>
            <a:r>
              <a:t>8번 구현 스키마 + 9번 코드표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108813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118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07F80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63931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273B"/>
                </a:solidFill>
                <a:latin typeface="Noto Sans CJK KR"/>
              </a:defRPr>
            </a:pPr>
            <a:r>
              <a:t>필요 데이터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657600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4657B"/>
                </a:solidFill>
                <a:latin typeface="Noto Sans CJK KR"/>
              </a:defRPr>
            </a:pPr>
            <a:r>
              <a:t>화면과 계산에 필요한 컬럼·통계·샘플 점검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26280"/>
            <a:ext cx="108813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07F80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69087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273B"/>
                </a:solidFill>
                <a:latin typeface="Noto Sans CJK KR"/>
              </a:defRPr>
            </a:pPr>
            <a:r>
              <a:t>선택적으로 보완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709160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4657B"/>
                </a:solidFill>
                <a:latin typeface="Noto Sans CJK KR"/>
              </a:defRPr>
            </a:pPr>
            <a:r>
              <a:t>합성 데이터에서 호환 가능한 값만 매핑하여 사용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4657B"/>
                </a:solidFill>
                <a:latin typeface="Noto Sans CJK KR"/>
              </a:defRPr>
            </a:pPr>
            <a:r>
              <a:t>9번은 코드표 초기값만 제공합니다. 사용자·공공통계·금리·상권 실데이터는 별도 적재 대상입니다.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F80"/>
                </a:solidFill>
                <a:latin typeface="Noto Sans CJK KR"/>
              </a:defRPr>
            </a:pPr>
            <a:r>
              <a:t>09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273B"/>
                </a:solidFill>
                <a:latin typeface="Noto Sans CJK KR"/>
              </a:defRPr>
            </a:pPr>
            <a:r>
              <a:t>다음 단계는 데이터 연결과 계산 기준 확정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08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4657B"/>
                </a:solidFill>
                <a:latin typeface="Noto Sans CJK KR"/>
              </a:defRPr>
            </a:pPr>
            <a:r>
              <a:t>발표 가안을 실제 구현 계획으로 연결하기 위한 체크포인트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4657B"/>
                </a:solidFill>
                <a:latin typeface="Noto Sans CJK KR"/>
              </a:defRPr>
            </a:pPr>
            <a:r>
              <a:t>신용평가 서비스  |  발표 가안 · 08 구현 SQL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4657B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56616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542032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우선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35808"/>
            <a:ext cx="31455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입력과 코드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749039"/>
            <a:ext cx="3145536" cy="1783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연령대 → 정확한 나이 처리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기타 직군 · 사업자대출 처리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총자산 → 금융·실물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377440"/>
            <a:ext cx="356616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542032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우선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35808"/>
            <a:ext cx="31455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계산과 모델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749039"/>
            <a:ext cx="3145536" cy="1783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상환부담 · 스트레스 산식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평가 모델과 PD의 의미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대안모델 입력은 별도 정의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377440"/>
            <a:ext cx="356616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542032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F80"/>
                </a:solidFill>
                <a:latin typeface="Noto Sans CJK KR"/>
              </a:defRPr>
            </a:pPr>
            <a:r>
              <a:t>우선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035808"/>
            <a:ext cx="31455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273B"/>
                </a:solidFill>
                <a:latin typeface="Noto Sans CJK KR"/>
              </a:defRPr>
            </a:pPr>
            <a:r>
              <a:t>데모 흐름 완성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749039"/>
            <a:ext cx="3145536" cy="1783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공공통계 · 금리 데이터 적재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입력 → 비교 → 충격 → 결과</a:t>
            </a:r>
          </a:p>
          <a:p>
            <a:pPr>
              <a:spcAft>
                <a:spcPts val="800"/>
              </a:spcAft>
              <a:defRPr sz="1900" b="0">
                <a:solidFill>
                  <a:srgbClr val="54657B"/>
                </a:solidFill>
                <a:latin typeface="Noto Sans CJK KR"/>
              </a:defRPr>
            </a:pPr>
            <a:r>
              <a:t>지역 화면은 연결 자료 확보 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4657B"/>
                </a:solidFill>
                <a:latin typeface="Noto Sans CJK KR"/>
              </a:defRPr>
            </a:pPr>
            <a:r>
              <a:t>근거: 08 구현 DDL · 09 코드표 시드 / 이전 기획 PDF는 배경 참고 / 구현·모델 성능 검증 전 가안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